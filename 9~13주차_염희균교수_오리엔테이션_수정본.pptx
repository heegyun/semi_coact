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460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9875520" y="4480560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0" y="5120640"/>
            <a:ext cx="91440" cy="9144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6" name="Shape 4"/>
          <p:cNvSpPr/>
          <p:nvPr/>
        </p:nvSpPr>
        <p:spPr>
          <a:xfrm>
            <a:off x="9418320" y="5486400"/>
            <a:ext cx="109728" cy="10972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7" name="Shape 5"/>
          <p:cNvSpPr/>
          <p:nvPr/>
        </p:nvSpPr>
        <p:spPr>
          <a:xfrm>
            <a:off x="9948672" y="4553712"/>
            <a:ext cx="640080" cy="594360"/>
          </a:xfrm>
          <a:prstGeom prst="line">
            <a:avLst/>
          </a:prstGeom>
          <a:noFill/>
          <a:ln w="12700">
            <a:solidFill>
              <a:srgbClr val="0FA3A3">
                <a:alpha val="6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A93B"/>
                </a:solidFill>
                <a:latin typeface="+mn-ea"/>
                <a:cs typeface="Calibri" pitchFamily="34" charset="-120"/>
              </a:rPr>
              <a:t>2026학년도 2학기 · 3학점 · </a:t>
            </a:r>
            <a:r>
              <a:rPr lang="en-US" sz="1400" b="1" kern="0" spc="200" dirty="0" err="1">
                <a:solidFill>
                  <a:srgbClr val="F2A93B"/>
                </a:solidFill>
                <a:latin typeface="+mn-ea"/>
                <a:cs typeface="Calibri" pitchFamily="34" charset="-120"/>
              </a:rPr>
              <a:t>semiCo</a:t>
            </a:r>
            <a:r>
              <a:rPr lang="en-US" sz="1400" b="1" kern="0" spc="200" dirty="0">
                <a:solidFill>
                  <a:srgbClr val="F2A93B"/>
                </a:solidFill>
                <a:latin typeface="+mn-ea"/>
                <a:cs typeface="Calibri" pitchFamily="34" charset="-120"/>
              </a:rPr>
              <a:t>-ACT 교과목</a:t>
            </a:r>
            <a:endParaRPr lang="en-US" sz="1400" dirty="0">
              <a:latin typeface="+mn-ea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77240" y="18288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mbria" pitchFamily="34" charset="-120"/>
              </a:rPr>
              <a:t>디지털 운동과 뇌과학</a:t>
            </a:r>
            <a:endParaRPr lang="en-US" sz="4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22960" y="2788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FF4F2"/>
                </a:solidFill>
                <a:latin typeface="+mn-ea"/>
                <a:cs typeface="Calibri" pitchFamily="34" charset="-120"/>
              </a:rPr>
              <a:t>9~13주차 PBL 프로젝트 오리엔테이션</a:t>
            </a:r>
            <a:endParaRPr lang="en-US" sz="2400" dirty="0">
              <a:latin typeface="+mn-ea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22960" y="3749040"/>
            <a:ext cx="4937760" cy="0"/>
          </a:xfrm>
          <a:prstGeom prst="line">
            <a:avLst/>
          </a:prstGeom>
          <a:noFill/>
          <a:ln w="12700">
            <a:solidFill>
              <a:srgbClr val="4B459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977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9B4E8"/>
                </a:solidFill>
                <a:latin typeface="+mn-ea"/>
                <a:cs typeface="Calibri" pitchFamily="34" charset="-120"/>
              </a:rPr>
              <a:t>담당교수  </a:t>
            </a:r>
            <a:r>
              <a:rPr lang="en-US" sz="1700" b="1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염희균  </a:t>
            </a:r>
            <a:r>
              <a:rPr lang="en-US" sz="1500" dirty="0">
                <a:solidFill>
                  <a:srgbClr val="B9B4E8"/>
                </a:solidFill>
                <a:latin typeface="+mn-ea"/>
                <a:cs typeface="Calibri" pitchFamily="34" charset="-120"/>
              </a:rPr>
              <a:t>(SW중심대학사업단)</a:t>
            </a:r>
            <a:endParaRPr lang="en-US" sz="1500" dirty="0">
              <a:latin typeface="+mn-ea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22960" y="5989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97CC"/>
                </a:solidFill>
                <a:latin typeface="+mn-ea"/>
                <a:cs typeface="Calibri" pitchFamily="34" charset="-120"/>
              </a:rPr>
              <a:t>가상의 환자·시니어 데이터를 분석해 디지털 건강코칭 플랫폼을 설계·구현하는 PBL 프로젝트 구간입니다</a:t>
            </a:r>
            <a:endParaRPr lang="en-US" sz="1300" dirty="0"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담당교수 안내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mbria" pitchFamily="34" charset="-120"/>
              </a:rPr>
              <a:t>두 </a:t>
            </a:r>
            <a:r>
              <a:rPr lang="en-US" sz="2800" b="1" dirty="0" err="1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mbria" pitchFamily="34" charset="-120"/>
              </a:rPr>
              <a:t>교수가</a:t>
            </a:r>
            <a:r>
              <a:rPr lang="en-US" sz="2800" b="1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mbria" pitchFamily="34" charset="-120"/>
              </a:rPr>
              <a:t> </a:t>
            </a:r>
            <a:r>
              <a:rPr lang="en-US" sz="2800" b="1" dirty="0" err="1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mbria" pitchFamily="34" charset="-120"/>
              </a:rPr>
              <a:t>함께</a:t>
            </a:r>
            <a:r>
              <a:rPr lang="en-US" sz="2800" b="1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mbria" pitchFamily="34" charset="-120"/>
              </a:rPr>
              <a:t> </a:t>
            </a:r>
            <a:r>
              <a:rPr lang="en-US" sz="2800" b="1" dirty="0" err="1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mbria" pitchFamily="34" charset="-120"/>
              </a:rPr>
              <a:t>만드는</a:t>
            </a:r>
            <a:r>
              <a:rPr lang="en-US" sz="2800" b="1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mbria" pitchFamily="34" charset="-120"/>
              </a:rPr>
              <a:t>  semi Co-ACT 수업</a:t>
            </a:r>
            <a:endParaRPr lang="en-US" sz="2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 err="1">
                <a:solidFill>
                  <a:srgbClr val="6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스포츠건강재활학과의</a:t>
            </a:r>
            <a:r>
              <a:rPr lang="en-US" sz="1350" dirty="0">
                <a:solidFill>
                  <a:srgbClr val="6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전문성과 SW중심대학사업단의 디지털·AI 실무 역량이 결합된 융합 교과목입니다.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380829"/>
            <a:ext cx="5074920" cy="3246120"/>
          </a:xfrm>
          <a:prstGeom prst="roundRect">
            <a:avLst>
              <a:gd name="adj" fmla="val 3380"/>
            </a:avLst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E4E3F1"/>
            </a:solidFill>
            <a:prstDash val="solid"/>
          </a:ln>
          <a:effectLst>
            <a:outerShdw blurRad="127000" dist="38100" dir="5400000" algn="bl" rotWithShape="0">
              <a:srgbClr val="1B144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14400" y="2673437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41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강은범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158069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스포츠건강재활학과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551261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DFF4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551261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1~8, 14주차 담당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163909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 영역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103120" y="4163909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임상·운동과학 이론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506809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연구실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103120" y="4506809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맥센터(렉쳐홀)-18304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849709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연락처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103120" y="4849709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042-280-2923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192609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103120" y="5192609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kbume23@dju.kr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80760" y="2380829"/>
            <a:ext cx="5074920" cy="3246120"/>
          </a:xfrm>
          <a:prstGeom prst="roundRect">
            <a:avLst>
              <a:gd name="adj" fmla="val 3380"/>
            </a:avLst>
          </a:prstGeom>
          <a:solidFill>
            <a:srgbClr val="1F1B4C"/>
          </a:solidFill>
          <a:ln/>
          <a:effectLst>
            <a:outerShdw blurRad="127000" dist="38100" dir="5400000" algn="bl" rotWithShape="0">
              <a:srgbClr val="1B1440">
                <a:alpha val="18000"/>
              </a:srgbClr>
            </a:outerShdw>
          </a:effectLst>
        </p:spPr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9DF7247F-2E27-4D14-AC6F-B4A436A11C79}"/>
              </a:ext>
            </a:extLst>
          </p:cNvPr>
          <p:cNvGrpSpPr/>
          <p:nvPr/>
        </p:nvGrpSpPr>
        <p:grpSpPr>
          <a:xfrm>
            <a:off x="6453285" y="3559728"/>
            <a:ext cx="2057400" cy="384048"/>
            <a:chOff x="8823960" y="2636861"/>
            <a:chExt cx="2057400" cy="384048"/>
          </a:xfrm>
        </p:grpSpPr>
        <p:sp>
          <p:nvSpPr>
            <p:cNvPr id="21" name="Shape 19"/>
            <p:cNvSpPr/>
            <p:nvPr/>
          </p:nvSpPr>
          <p:spPr>
            <a:xfrm>
              <a:off x="8823960" y="2636861"/>
              <a:ext cx="2057400" cy="384048"/>
            </a:xfrm>
            <a:prstGeom prst="roundRect">
              <a:avLst>
                <a:gd name="adj" fmla="val 50000"/>
              </a:avLst>
            </a:prstGeom>
            <a:solidFill>
              <a:srgbClr val="F2A93B"/>
            </a:solidFill>
            <a:ln/>
          </p:spPr>
        </p:sp>
        <p:sp>
          <p:nvSpPr>
            <p:cNvPr id="22" name="Text 20"/>
            <p:cNvSpPr txBox="1"/>
            <p:nvPr/>
          </p:nvSpPr>
          <p:spPr>
            <a:xfrm>
              <a:off x="8823960" y="2636861"/>
              <a:ext cx="2057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1200" b="1">
                  <a:solidFill>
                    <a:srgbClr val="0020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9~13주차 담당</a:t>
              </a:r>
              <a:endParaRPr lang="en-US" altLang="ko-KR" sz="1200" dirty="0">
                <a:solidFill>
                  <a:srgbClr val="002060"/>
                </a:solidFill>
              </a:endParaRPr>
            </a:p>
          </p:txBody>
        </p:sp>
      </p:grpSp>
      <p:sp>
        <p:nvSpPr>
          <p:cNvPr id="23" name="Text 21"/>
          <p:cNvSpPr txBox="1"/>
          <p:nvPr/>
        </p:nvSpPr>
        <p:spPr>
          <a:xfrm>
            <a:off x="6446520" y="2673437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염희균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3158069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F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SW중심대학사업단 </a:t>
            </a:r>
            <a:r>
              <a:rPr lang="ko-KR" altLang="en-US" sz="1300" b="1" dirty="0">
                <a:solidFill>
                  <a:srgbClr val="DF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연구교수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4163909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 영역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635240" y="4163909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디지털·AI 실무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446520" y="4506809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연구실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635240" y="4506809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융합과학관 309호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446520" y="4849709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연락처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635240" y="4849709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042-280-4619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446520" y="5192609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635240" y="5192609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yeom@dju.kr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9~13주차 개요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mbria" pitchFamily="34" charset="-120"/>
              </a:rPr>
              <a:t>9~13주차, 무엇을 하게 되나요?</a:t>
            </a:r>
            <a:endParaRPr lang="en-US" sz="2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39" y="1371600"/>
            <a:ext cx="112688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6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가상의 환자·시니어 데이터를 팀별로 분석하여, 디지털 건강코칭 플랫폼 서비스를 설계부터 프로토타입까지 완성하는 문제 해결형 PBL 프로젝트 구간입니다. 매 주차의 산출물이 다음 주차 활동의 입력값이 되며, 14주차 최종 발표로 이어집니다.</a:t>
            </a:r>
            <a:endParaRPr lang="en-US" sz="1350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FF99737-3939-465D-BD9E-703A505B72DF}"/>
              </a:ext>
            </a:extLst>
          </p:cNvPr>
          <p:cNvGrpSpPr/>
          <p:nvPr/>
        </p:nvGrpSpPr>
        <p:grpSpPr>
          <a:xfrm>
            <a:off x="108370" y="2514600"/>
            <a:ext cx="11823192" cy="914400"/>
            <a:chOff x="548640" y="2514600"/>
            <a:chExt cx="11823192" cy="914400"/>
          </a:xfrm>
        </p:grpSpPr>
        <p:sp>
          <p:nvSpPr>
            <p:cNvPr id="7" name="Shape 5"/>
            <p:cNvSpPr/>
            <p:nvPr/>
          </p:nvSpPr>
          <p:spPr>
            <a:xfrm>
              <a:off x="548640" y="2514600"/>
              <a:ext cx="1975104" cy="914400"/>
            </a:xfrm>
            <a:prstGeom prst="chevron">
              <a:avLst/>
            </a:prstGeom>
            <a:solidFill>
              <a:srgbClr val="1F1B4C"/>
            </a:solidFill>
            <a:ln/>
          </p:spPr>
        </p:sp>
        <p:sp>
          <p:nvSpPr>
            <p:cNvPr id="8" name="Text 6"/>
            <p:cNvSpPr txBox="1"/>
            <p:nvPr/>
          </p:nvSpPr>
          <p:spPr>
            <a:xfrm>
              <a:off x="731520" y="2642616"/>
              <a:ext cx="167335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2A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9주차</a:t>
              </a:r>
              <a:endParaRPr lang="en-US" sz="1200" dirty="0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731520" y="2935224"/>
              <a:ext cx="167335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문제정의</a:t>
              </a:r>
              <a:endParaRPr lang="en-US" sz="15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2414016" y="2514600"/>
              <a:ext cx="1810512" cy="914400"/>
            </a:xfrm>
            <a:prstGeom prst="chevron">
              <a:avLst/>
            </a:prstGeom>
            <a:solidFill>
              <a:srgbClr val="2C2470"/>
            </a:solidFill>
            <a:ln/>
          </p:spPr>
        </p:sp>
        <p:sp>
          <p:nvSpPr>
            <p:cNvPr id="11" name="Text 9"/>
            <p:cNvSpPr txBox="1"/>
            <p:nvPr/>
          </p:nvSpPr>
          <p:spPr>
            <a:xfrm>
              <a:off x="2414016" y="2642616"/>
              <a:ext cx="167335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2A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10주차</a:t>
              </a:r>
              <a:endParaRPr lang="en-US" sz="1200" dirty="0"/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2414016" y="2935224"/>
              <a:ext cx="167335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분석</a:t>
              </a:r>
              <a:endParaRPr lang="en-US" sz="15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279392" y="2514600"/>
              <a:ext cx="1810512" cy="914400"/>
            </a:xfrm>
            <a:prstGeom prst="chevron">
              <a:avLst/>
            </a:prstGeom>
            <a:solidFill>
              <a:srgbClr val="3D2E94"/>
            </a:solidFill>
            <a:ln/>
          </p:spPr>
        </p:sp>
        <p:sp>
          <p:nvSpPr>
            <p:cNvPr id="14" name="Text 12"/>
            <p:cNvSpPr txBox="1"/>
            <p:nvPr/>
          </p:nvSpPr>
          <p:spPr>
            <a:xfrm>
              <a:off x="4279392" y="2642616"/>
              <a:ext cx="167335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2A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11주차</a:t>
              </a:r>
              <a:endParaRPr lang="en-US" sz="1200" dirty="0"/>
            </a:p>
          </p:txBody>
        </p:sp>
        <p:sp>
          <p:nvSpPr>
            <p:cNvPr id="15" name="Text 13"/>
            <p:cNvSpPr txBox="1"/>
            <p:nvPr/>
          </p:nvSpPr>
          <p:spPr>
            <a:xfrm>
              <a:off x="4279392" y="2935224"/>
              <a:ext cx="167335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설계</a:t>
              </a:r>
              <a:endParaRPr lang="en-US" sz="15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6144768" y="2514600"/>
              <a:ext cx="1810512" cy="914400"/>
            </a:xfrm>
            <a:prstGeom prst="chevron">
              <a:avLst/>
            </a:prstGeom>
            <a:solidFill>
              <a:srgbClr val="0B7A7A"/>
            </a:solidFill>
            <a:ln/>
          </p:spPr>
        </p:sp>
        <p:sp>
          <p:nvSpPr>
            <p:cNvPr id="17" name="Text 15"/>
            <p:cNvSpPr txBox="1"/>
            <p:nvPr/>
          </p:nvSpPr>
          <p:spPr>
            <a:xfrm>
              <a:off x="6144768" y="2642616"/>
              <a:ext cx="167335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2A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12주차</a:t>
              </a:r>
              <a:endParaRPr lang="en-US" sz="1200" dirty="0"/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6144768" y="2935224"/>
              <a:ext cx="167335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구현</a:t>
              </a:r>
              <a:endParaRPr lang="en-US" sz="15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8010144" y="2514600"/>
              <a:ext cx="1810512" cy="914400"/>
            </a:xfrm>
            <a:prstGeom prst="chevron">
              <a:avLst/>
            </a:prstGeom>
            <a:solidFill>
              <a:srgbClr val="0FA3A3"/>
            </a:solidFill>
            <a:ln/>
          </p:spPr>
        </p:sp>
        <p:sp>
          <p:nvSpPr>
            <p:cNvPr id="20" name="Text 18"/>
            <p:cNvSpPr txBox="1"/>
            <p:nvPr/>
          </p:nvSpPr>
          <p:spPr>
            <a:xfrm>
              <a:off x="8010144" y="2642616"/>
              <a:ext cx="167335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2A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13주차</a:t>
              </a:r>
              <a:endParaRPr lang="en-US" sz="1200" dirty="0"/>
            </a:p>
          </p:txBody>
        </p:sp>
        <p:sp>
          <p:nvSpPr>
            <p:cNvPr id="21" name="Text 19"/>
            <p:cNvSpPr txBox="1"/>
            <p:nvPr/>
          </p:nvSpPr>
          <p:spPr>
            <a:xfrm>
              <a:off x="8010144" y="2935224"/>
              <a:ext cx="167335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고도화</a:t>
              </a:r>
              <a:endParaRPr lang="en-US" sz="15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10040112" y="2624328"/>
              <a:ext cx="2331720" cy="694944"/>
            </a:xfrm>
            <a:prstGeom prst="roundRect">
              <a:avLst>
                <a:gd name="adj" fmla="val 13158"/>
              </a:avLst>
            </a:prstGeom>
            <a:solidFill>
              <a:srgbClr val="F6F6FC"/>
            </a:solidFill>
            <a:ln w="19050">
              <a:solidFill>
                <a:srgbClr val="F2A93B"/>
              </a:solidFill>
              <a:prstDash val="dash"/>
            </a:ln>
          </p:spPr>
        </p:sp>
        <p:sp>
          <p:nvSpPr>
            <p:cNvPr id="23" name="Text 21"/>
            <p:cNvSpPr txBox="1"/>
            <p:nvPr/>
          </p:nvSpPr>
          <p:spPr>
            <a:xfrm>
              <a:off x="10040112" y="2624328"/>
              <a:ext cx="2331720" cy="6949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D98E1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14주차
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300" b="1" dirty="0">
                  <a:solidFill>
                    <a:srgbClr val="241F4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최종 발표 · 동료평가</a:t>
              </a:r>
              <a:endParaRPr lang="en-US" sz="1200" dirty="0"/>
            </a:p>
          </p:txBody>
        </p:sp>
      </p:grpSp>
      <p:sp>
        <p:nvSpPr>
          <p:cNvPr id="24" name="Shape 22"/>
          <p:cNvSpPr/>
          <p:nvPr/>
        </p:nvSpPr>
        <p:spPr>
          <a:xfrm>
            <a:off x="548640" y="3794760"/>
            <a:ext cx="3364992" cy="2331720"/>
          </a:xfrm>
          <a:prstGeom prst="roundRect">
            <a:avLst>
              <a:gd name="adj" fmla="val 3922"/>
            </a:avLst>
          </a:prstGeom>
          <a:solidFill>
            <a:srgbClr val="F6F6FC"/>
          </a:solidFill>
          <a:ln w="12700">
            <a:solidFill>
              <a:srgbClr val="E4E3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406908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FA3A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4690872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탐구 대상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074920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치매·파킨슨병·뇌졸중 등 뇌신경계 질환자 및 낙상 위험 시니어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69664" y="3794760"/>
            <a:ext cx="3364992" cy="2331720"/>
          </a:xfrm>
          <a:prstGeom prst="roundRect">
            <a:avLst>
              <a:gd name="adj" fmla="val 3922"/>
            </a:avLst>
          </a:prstGeom>
          <a:solidFill>
            <a:srgbClr val="F6F6FC"/>
          </a:solidFill>
          <a:ln w="12700">
            <a:solidFill>
              <a:srgbClr val="E4E3F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43984" y="406908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FA3A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443984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4443984" y="4690872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산출물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4443984" y="5074920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문제정의서 → 근거자료분석 → 설계서 → 프로토타입 → 최종보고서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790688" y="3794760"/>
            <a:ext cx="3364992" cy="2331720"/>
          </a:xfrm>
          <a:prstGeom prst="roundRect">
            <a:avLst>
              <a:gd name="adj" fmla="val 3922"/>
            </a:avLst>
          </a:prstGeom>
          <a:solidFill>
            <a:srgbClr val="F6F6FC"/>
          </a:solidFill>
          <a:ln w="12700">
            <a:solidFill>
              <a:srgbClr val="E4E3F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65008" y="406908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FA3A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065008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8065008" y="4690872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협업 방식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8065008" y="5074920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팀별 3명 내외, GitHub·패들렛·구글 프레젠테이션으로 전 과정 기록</a:t>
            </a:r>
            <a:endParaRPr lang="en-US" sz="1200" dirty="0"/>
          </a:p>
        </p:txBody>
      </p:sp>
      <p:sp>
        <p:nvSpPr>
          <p:cNvPr id="40" name="Oval 39"/>
          <p:cNvSpPr/>
          <p:nvPr/>
        </p:nvSpPr>
        <p:spPr>
          <a:xfrm>
            <a:off x="1371600" y="4114800"/>
            <a:ext cx="365760" cy="36576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card-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067" y="4195267"/>
            <a:ext cx="204825" cy="204825"/>
          </a:xfrm>
          <a:prstGeom prst="rect">
            <a:avLst/>
          </a:prstGeom>
        </p:spPr>
      </p:pic>
      <p:sp>
        <p:nvSpPr>
          <p:cNvPr id="42" name="Oval 41"/>
          <p:cNvSpPr/>
          <p:nvPr/>
        </p:nvSpPr>
        <p:spPr>
          <a:xfrm>
            <a:off x="4992624" y="4114800"/>
            <a:ext cx="365760" cy="36576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card-outp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3091" y="4195267"/>
            <a:ext cx="204825" cy="204825"/>
          </a:xfrm>
          <a:prstGeom prst="rect">
            <a:avLst/>
          </a:prstGeom>
        </p:spPr>
      </p:pic>
      <p:sp>
        <p:nvSpPr>
          <p:cNvPr id="44" name="Oval 43"/>
          <p:cNvSpPr/>
          <p:nvPr/>
        </p:nvSpPr>
        <p:spPr>
          <a:xfrm>
            <a:off x="8613648" y="4114800"/>
            <a:ext cx="365760" cy="36576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card-colla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4115" y="4195267"/>
            <a:ext cx="204825" cy="2048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48640" y="45720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F2A93B"/>
          </a:solidFill>
          <a:ln/>
          <a:effectLst>
            <a:outerShdw blurRad="127000" dist="38100" dir="5400000" algn="bl" rotWithShape="0">
              <a:srgbClr val="1B1440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45720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1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241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주차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00200" y="512064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DF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00200" y="51206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PBL 1단계 · 문제정의  ·  Define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93268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mbria" pitchFamily="34" charset="-120"/>
              </a:rPr>
              <a:t>뇌신경계 건강 문제 분석과 프로젝트 기획</a:t>
            </a:r>
            <a:endParaRPr lang="en-US" sz="2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1737360"/>
            <a:ext cx="5257800" cy="2880360"/>
          </a:xfrm>
          <a:prstGeom prst="roundRect">
            <a:avLst>
              <a:gd name="adj" fmla="val 3175"/>
            </a:avLst>
          </a:prstGeom>
          <a:solidFill>
            <a:srgbClr val="F6F6FC"/>
          </a:solidFill>
          <a:ln w="12700">
            <a:solidFill>
              <a:srgbClr val="E4E3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011680"/>
            <a:ext cx="274320" cy="274320"/>
          </a:xfrm>
          <a:prstGeom prst="rect">
            <a:avLst/>
          </a:prstGeom>
          <a:solidFill>
            <a:srgbClr val="1F1B4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34440" y="1975104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목표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2487168"/>
            <a:ext cx="467258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 헬스 데이터를 근거로 뇌신경계 건강 문제를 분석하고 프로젝트 목표를 수립한다</a:t>
            </a:r>
            <a:endParaRPr lang="en-US" sz="1250" dirty="0"/>
          </a:p>
          <a:p>
            <a:pPr marL="177800" indent="-177800">
              <a:lnSpc>
                <a:spcPct val="15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AI·빅데이터·뇌과학 융합 기술을 이해하고 프로젝트 대상자를 선정한다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26480" y="1737360"/>
            <a:ext cx="5257800" cy="2880360"/>
          </a:xfrm>
          <a:prstGeom prst="roundRect">
            <a:avLst>
              <a:gd name="adj" fmla="val 3175"/>
            </a:avLst>
          </a:prstGeom>
          <a:solidFill>
            <a:srgbClr val="F6F6FC"/>
          </a:solidFill>
          <a:ln w="12700">
            <a:solidFill>
              <a:srgbClr val="E4E3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19088" y="2011680"/>
            <a:ext cx="274320" cy="274320"/>
          </a:xfrm>
          <a:prstGeom prst="rect">
            <a:avLst/>
          </a:prstGeom>
          <a:solidFill>
            <a:srgbClr val="0B7A7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12280" y="1975104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활동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19088" y="2487168"/>
            <a:ext cx="467258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팀별 브레인스토밍으로 프로젝트 주제·대상자 선정</a:t>
            </a:r>
            <a:endParaRPr lang="en-US" sz="1250" dirty="0"/>
          </a:p>
          <a:p>
            <a:pPr marL="177800" indent="-177800">
              <a:lnSpc>
                <a:spcPct val="15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국내외 사례 조사 후 문제정의서(1차안) 작성 (Google 프레젠테이션)</a:t>
            </a:r>
            <a:endParaRPr lang="en-US" sz="1250" dirty="0"/>
          </a:p>
          <a:p>
            <a:pPr marL="177800" indent="-177800">
              <a:lnSpc>
                <a:spcPct val="15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41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GitHub Repository 생성 및 초안 업로드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82803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175504"/>
            <a:ext cx="1580083" cy="384048"/>
          </a:xfrm>
          <a:prstGeom prst="roundRect">
            <a:avLst>
              <a:gd name="adj" fmla="val 50000"/>
            </a:avLst>
          </a:prstGeom>
          <a:solidFill>
            <a:srgbClr val="1F1B4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175504"/>
            <a:ext cx="15800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문제정의서 (1차안)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2293315" y="5175504"/>
            <a:ext cx="2282342" cy="384048"/>
          </a:xfrm>
          <a:prstGeom prst="roundRect">
            <a:avLst>
              <a:gd name="adj" fmla="val 50000"/>
            </a:avLst>
          </a:prstGeom>
          <a:solidFill>
            <a:srgbClr val="1F1B4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293315" y="5175504"/>
            <a:ext cx="22823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4740250" y="5175504"/>
            <a:ext cx="1345997" cy="384048"/>
          </a:xfrm>
          <a:prstGeom prst="roundRect">
            <a:avLst>
              <a:gd name="adj" fmla="val 50000"/>
            </a:avLst>
          </a:prstGeom>
          <a:solidFill>
            <a:srgbClr val="1F1B4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740250" y="5175504"/>
            <a:ext cx="13459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대상자 선정 결과</a:t>
            </a:r>
            <a:endParaRPr lang="en-US" sz="108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74243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8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포인트   </a:t>
            </a:r>
            <a:r>
              <a:rPr lang="en-US" sz="1200" i="1" dirty="0">
                <a:solidFill>
                  <a:srgbClr val="6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문제정의의 명확성 · 데이터 근거의 적절성 · 목표 타당성 · 팀 협업 과정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795967" y="6291072"/>
            <a:ext cx="310896" cy="310896"/>
          </a:xfrm>
          <a:prstGeom prst="ellipse">
            <a:avLst/>
          </a:prstGeom>
          <a:solidFill>
            <a:srgbClr val="F2A93B"/>
          </a:solidFill>
          <a:ln w="12700">
            <a:solidFill>
              <a:srgbClr val="D98E1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22815" y="628192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180015" y="6291072"/>
            <a:ext cx="310896" cy="310896"/>
          </a:xfrm>
          <a:prstGeom prst="ellipse">
            <a:avLst/>
          </a:prstGeom>
          <a:solidFill>
            <a:srgbClr val="DFF4F2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06863" y="628192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564063" y="6291072"/>
            <a:ext cx="310896" cy="310896"/>
          </a:xfrm>
          <a:prstGeom prst="ellipse">
            <a:avLst/>
          </a:prstGeom>
          <a:solidFill>
            <a:srgbClr val="DFF4F2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90911" y="628192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948111" y="6291072"/>
            <a:ext cx="310896" cy="310896"/>
          </a:xfrm>
          <a:prstGeom prst="ellipse">
            <a:avLst/>
          </a:prstGeom>
          <a:solidFill>
            <a:srgbClr val="DFF4F2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874959" y="628192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1332159" y="6291072"/>
            <a:ext cx="310896" cy="310896"/>
          </a:xfrm>
          <a:prstGeom prst="ellipse">
            <a:avLst/>
          </a:prstGeom>
          <a:solidFill>
            <a:srgbClr val="DFF4F2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259007" y="628192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36" name="Oval 35"/>
          <p:cNvSpPr/>
          <p:nvPr/>
        </p:nvSpPr>
        <p:spPr>
          <a:xfrm>
            <a:off x="4425696" y="512064"/>
            <a:ext cx="384048" cy="384048"/>
          </a:xfrm>
          <a:prstGeom prst="ellipse">
            <a:avLst/>
          </a:prstGeom>
          <a:solidFill>
            <a:srgbClr val="0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stage-def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186" y="596554"/>
            <a:ext cx="215066" cy="2150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48640" y="45720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F2A93B"/>
          </a:solidFill>
          <a:ln/>
          <a:effectLst>
            <a:outerShdw blurRad="127000" dist="38100" dir="5400000" algn="bl" rotWithShape="0">
              <a:srgbClr val="1B1440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45720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1B4C"/>
                </a:solidFill>
                <a:latin typeface="+mn-ea"/>
                <a:cs typeface="Cambria" pitchFamily="34" charset="-120"/>
              </a:rPr>
              <a:t>10</a:t>
            </a:r>
            <a:endParaRPr lang="en-US" sz="2600" dirty="0">
              <a:latin typeface="+mn-ea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10241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1B4C"/>
                </a:solidFill>
                <a:latin typeface="+mn-ea"/>
                <a:cs typeface="Calibri" pitchFamily="34" charset="-120"/>
              </a:rPr>
              <a:t>주차</a:t>
            </a:r>
            <a:endParaRPr lang="en-US" sz="1100" dirty="0">
              <a:latin typeface="+mn-ea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600200" y="512064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DF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00200" y="51206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7A7A"/>
                </a:solidFill>
                <a:latin typeface="+mn-ea"/>
                <a:cs typeface="Calibri" pitchFamily="34" charset="-120"/>
              </a:rPr>
              <a:t>PBL 2단계 · 분석  ·  Analyze</a:t>
            </a:r>
            <a:endParaRPr lang="en-US" sz="1150" dirty="0">
              <a:latin typeface="+mn-ea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600200" y="93268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mbria" pitchFamily="34" charset="-120"/>
              </a:rPr>
              <a:t>운동과 뇌 기능의 과학적 이해</a:t>
            </a:r>
            <a:endParaRPr lang="en-US" sz="2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1737360"/>
            <a:ext cx="5257800" cy="2880360"/>
          </a:xfrm>
          <a:prstGeom prst="roundRect">
            <a:avLst>
              <a:gd name="adj" fmla="val 3175"/>
            </a:avLst>
          </a:prstGeom>
          <a:solidFill>
            <a:srgbClr val="F6F6FC"/>
          </a:solidFill>
          <a:ln w="12700">
            <a:solidFill>
              <a:srgbClr val="E4E3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011680"/>
            <a:ext cx="274320" cy="274320"/>
          </a:xfrm>
          <a:prstGeom prst="rect">
            <a:avLst/>
          </a:prstGeom>
          <a:solidFill>
            <a:srgbClr val="1F1B4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34440" y="1975104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41F45"/>
                </a:solidFill>
                <a:latin typeface="+mn-ea"/>
                <a:cs typeface="Calibri" pitchFamily="34" charset="-120"/>
              </a:rPr>
              <a:t>수업 목표</a:t>
            </a:r>
            <a:endParaRPr lang="en-US" sz="1500" dirty="0">
              <a:latin typeface="+mn-ea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41248" y="2487168"/>
            <a:ext cx="467258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41F45"/>
                </a:solidFill>
                <a:latin typeface="+mn-ea"/>
                <a:cs typeface="Calibri" pitchFamily="34" charset="-120"/>
              </a:rPr>
              <a:t>운동이 뇌 구조·기능(주의력·기억력·실행기능)에 미치는 영향을 신경과학적으로 설명한다</a:t>
            </a:r>
            <a:endParaRPr lang="en-US" sz="1250" dirty="0">
              <a:latin typeface="+mn-ea"/>
            </a:endParaRPr>
          </a:p>
          <a:p>
            <a:pPr marL="177800" indent="-177800">
              <a:lnSpc>
                <a:spcPct val="15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41F45"/>
                </a:solidFill>
                <a:latin typeface="+mn-ea"/>
                <a:cs typeface="Calibri" pitchFamily="34" charset="-120"/>
              </a:rPr>
              <a:t>신경가소성(뇌의 회복·적응 능력)·BDNF(뇌세포 성장을 돕는 단백질) 등 과학적 근거로 건강 문제를 분석한다</a:t>
            </a:r>
            <a:endParaRPr lang="en-US" sz="1250" dirty="0">
              <a:latin typeface="+mn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26480" y="1737360"/>
            <a:ext cx="5257800" cy="2880360"/>
          </a:xfrm>
          <a:prstGeom prst="roundRect">
            <a:avLst>
              <a:gd name="adj" fmla="val 3175"/>
            </a:avLst>
          </a:prstGeom>
          <a:solidFill>
            <a:srgbClr val="F6F6FC"/>
          </a:solidFill>
          <a:ln w="12700">
            <a:solidFill>
              <a:srgbClr val="E4E3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19088" y="2011680"/>
            <a:ext cx="274320" cy="274320"/>
          </a:xfrm>
          <a:prstGeom prst="rect">
            <a:avLst/>
          </a:prstGeom>
          <a:solidFill>
            <a:srgbClr val="0B7A7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12280" y="1975104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41F45"/>
                </a:solidFill>
                <a:latin typeface="+mn-ea"/>
                <a:cs typeface="Calibri" pitchFamily="34" charset="-120"/>
              </a:rPr>
              <a:t>핵심 활동</a:t>
            </a:r>
            <a:endParaRPr lang="en-US" sz="1500" dirty="0">
              <a:latin typeface="+mn-ea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419088" y="2487168"/>
            <a:ext cx="467258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41F45"/>
                </a:solidFill>
                <a:latin typeface="+mn-ea"/>
                <a:cs typeface="Calibri" pitchFamily="34" charset="-120"/>
              </a:rPr>
              <a:t>팀별 핵심 키워드 도출 후 국내외 논문·공공데이터 조사</a:t>
            </a:r>
            <a:endParaRPr lang="en-US" sz="1250" dirty="0">
              <a:latin typeface="+mn-ea"/>
            </a:endParaRPr>
          </a:p>
          <a:p>
            <a:pPr marL="177800" indent="-177800">
              <a:lnSpc>
                <a:spcPct val="15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41F45"/>
                </a:solidFill>
                <a:latin typeface="+mn-ea"/>
                <a:cs typeface="Calibri" pitchFamily="34" charset="-120"/>
              </a:rPr>
              <a:t>생성형 AI(ChatGPT·Claude)로 논문 요약 및 근거자료 분석서 작성</a:t>
            </a:r>
            <a:endParaRPr lang="en-US" sz="1250" dirty="0">
              <a:latin typeface="+mn-ea"/>
            </a:endParaRPr>
          </a:p>
          <a:p>
            <a:pPr marL="177800" indent="-177800">
              <a:lnSpc>
                <a:spcPct val="15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41F45"/>
                </a:solidFill>
                <a:latin typeface="+mn-ea"/>
                <a:cs typeface="Calibri" pitchFamily="34" charset="-120"/>
              </a:rPr>
              <a:t>GitHub·LMS에 분석 결과 업로드 및 공유</a:t>
            </a:r>
            <a:endParaRPr lang="en-US" sz="1250" dirty="0">
              <a:latin typeface="+mn-ea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548640" y="482803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175504"/>
            <a:ext cx="3569818" cy="384048"/>
          </a:xfrm>
          <a:prstGeom prst="roundRect">
            <a:avLst>
              <a:gd name="adj" fmla="val 50000"/>
            </a:avLst>
          </a:prstGeom>
          <a:solidFill>
            <a:srgbClr val="1F1B4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175504"/>
            <a:ext cx="35698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근거자료 분석서 (Literature Review)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4283050" y="5175504"/>
            <a:ext cx="2048256" cy="384048"/>
          </a:xfrm>
          <a:prstGeom prst="roundRect">
            <a:avLst>
              <a:gd name="adj" fmla="val 50000"/>
            </a:avLst>
          </a:prstGeom>
          <a:solidFill>
            <a:srgbClr val="1F1B4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283050" y="5175504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건강문제·재활요구 분석 결과</a:t>
            </a:r>
            <a:endParaRPr lang="en-US" sz="108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74243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8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포인트   </a:t>
            </a:r>
            <a:r>
              <a:rPr lang="en-US" sz="1200" i="1" dirty="0">
                <a:solidFill>
                  <a:srgbClr val="6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근거자료 탐색의 적절성 및 다양성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795967" y="6291072"/>
            <a:ext cx="310896" cy="310896"/>
          </a:xfrm>
          <a:prstGeom prst="ellipse">
            <a:avLst/>
          </a:prstGeom>
          <a:solidFill>
            <a:srgbClr val="DFF4F2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22815" y="628192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180015" y="6291072"/>
            <a:ext cx="310896" cy="310896"/>
          </a:xfrm>
          <a:prstGeom prst="ellipse">
            <a:avLst/>
          </a:prstGeom>
          <a:solidFill>
            <a:srgbClr val="F2A93B"/>
          </a:solidFill>
          <a:ln w="12700">
            <a:solidFill>
              <a:srgbClr val="D98E1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06863" y="628192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564063" y="6291072"/>
            <a:ext cx="310896" cy="310896"/>
          </a:xfrm>
          <a:prstGeom prst="ellipse">
            <a:avLst/>
          </a:prstGeom>
          <a:solidFill>
            <a:srgbClr val="DFF4F2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90911" y="628192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48111" y="6291072"/>
            <a:ext cx="310896" cy="310896"/>
          </a:xfrm>
          <a:prstGeom prst="ellipse">
            <a:avLst/>
          </a:prstGeom>
          <a:solidFill>
            <a:srgbClr val="DFF4F2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874959" y="628192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1332159" y="6291072"/>
            <a:ext cx="310896" cy="310896"/>
          </a:xfrm>
          <a:prstGeom prst="ellipse">
            <a:avLst/>
          </a:prstGeom>
          <a:solidFill>
            <a:srgbClr val="DFF4F2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259007" y="628192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34" name="Oval 33"/>
          <p:cNvSpPr/>
          <p:nvPr/>
        </p:nvSpPr>
        <p:spPr>
          <a:xfrm>
            <a:off x="4425696" y="512064"/>
            <a:ext cx="384048" cy="384048"/>
          </a:xfrm>
          <a:prstGeom prst="ellipse">
            <a:avLst/>
          </a:prstGeom>
          <a:solidFill>
            <a:srgbClr val="0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stage-analyz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186" y="596554"/>
            <a:ext cx="215066" cy="2150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48640" y="45720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F2A93B"/>
          </a:solidFill>
          <a:ln/>
          <a:effectLst>
            <a:outerShdw blurRad="127000" dist="38100" dir="5400000" algn="bl" rotWithShape="0">
              <a:srgbClr val="1B1440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45720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600" b="1" dirty="0">
                <a:solidFill>
                  <a:srgbClr val="1F1B4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mbria" pitchFamily="34" charset="-120"/>
              </a:rPr>
              <a:t>11</a:t>
            </a:r>
            <a:endParaRPr lang="en-US" sz="2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10241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F1B4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주차</a:t>
            </a:r>
            <a:endParaRPr 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600200" y="512064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DF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00200" y="51206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0B7A7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PBL 3단계 · 설계  ·  Design</a:t>
            </a:r>
            <a:endParaRPr lang="en-US" sz="1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600200" y="93268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500" b="1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mbria" pitchFamily="34" charset="-120"/>
              </a:rPr>
              <a:t>뇌과학 기반 디지털 운동 프로그램 설계</a:t>
            </a:r>
            <a:endParaRPr lang="en-US" sz="2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1737360"/>
            <a:ext cx="5257800" cy="2880360"/>
          </a:xfrm>
          <a:prstGeom prst="roundRect">
            <a:avLst>
              <a:gd name="adj" fmla="val 3175"/>
            </a:avLst>
          </a:prstGeom>
          <a:solidFill>
            <a:srgbClr val="F6F6FC"/>
          </a:solidFill>
          <a:ln w="12700">
            <a:solidFill>
              <a:srgbClr val="E4E3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011680"/>
            <a:ext cx="274320" cy="274320"/>
          </a:xfrm>
          <a:prstGeom prst="rect">
            <a:avLst/>
          </a:prstGeom>
          <a:solidFill>
            <a:srgbClr val="1F1B4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34440" y="1975104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수업 목표</a:t>
            </a:r>
            <a:endParaRPr 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41248" y="2487168"/>
            <a:ext cx="467258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뇌과학·운동과학 원리를 적용해 대상자 맞춤 디지털 운동 프로그램을 설계한다</a:t>
            </a:r>
            <a:endParaRPr lang="en-US" sz="12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7800" indent="-177800">
              <a:lnSpc>
                <a:spcPct val="15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웨어러블·모바일 헬스 기반 모니터링·피드백 방안을 설계한다</a:t>
            </a:r>
            <a:endParaRPr lang="en-US" sz="12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26480" y="1737360"/>
            <a:ext cx="5257800" cy="2880360"/>
          </a:xfrm>
          <a:prstGeom prst="roundRect">
            <a:avLst>
              <a:gd name="adj" fmla="val 3175"/>
            </a:avLst>
          </a:prstGeom>
          <a:solidFill>
            <a:srgbClr val="F6F6FC"/>
          </a:solidFill>
          <a:ln w="12700">
            <a:solidFill>
              <a:srgbClr val="E4E3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19088" y="2011680"/>
            <a:ext cx="274320" cy="274320"/>
          </a:xfrm>
          <a:prstGeom prst="rect">
            <a:avLst/>
          </a:prstGeom>
          <a:solidFill>
            <a:srgbClr val="0B7A7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12280" y="1975104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핵심 활동</a:t>
            </a:r>
            <a:endParaRPr 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419088" y="2487168"/>
            <a:ext cx="467258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운동 목표·중재전략 구체화, FITT-VP(빈도·강도·시간·형태 등 운동설계 원칙) 기반 프로그램 설계</a:t>
            </a:r>
            <a:endParaRPr lang="en-US" sz="12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7800" indent="-177800">
              <a:lnSpc>
                <a:spcPct val="15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Figma로 서비스 흐름도 및 사용자 시나리오 작성</a:t>
            </a:r>
            <a:endParaRPr lang="en-US" sz="12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7800" indent="-177800">
              <a:lnSpc>
                <a:spcPct val="15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팀별 설계안 발표 및 교수 피드백 반영</a:t>
            </a:r>
            <a:endParaRPr lang="en-US" sz="12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548640" y="482803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175504"/>
            <a:ext cx="2048256" cy="384048"/>
          </a:xfrm>
          <a:prstGeom prst="roundRect">
            <a:avLst>
              <a:gd name="adj" fmla="val 50000"/>
            </a:avLst>
          </a:prstGeom>
          <a:solidFill>
            <a:srgbClr val="1F1B4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175504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 운동 프로그램 설계서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2761488" y="5175504"/>
            <a:ext cx="2048256" cy="384048"/>
          </a:xfrm>
          <a:prstGeom prst="roundRect">
            <a:avLst>
              <a:gd name="adj" fmla="val 50000"/>
            </a:avLst>
          </a:prstGeom>
          <a:solidFill>
            <a:srgbClr val="1F1B4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761488" y="5175504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흐름도 (Figma)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4974336" y="5175504"/>
            <a:ext cx="2048256" cy="384048"/>
          </a:xfrm>
          <a:prstGeom prst="roundRect">
            <a:avLst>
              <a:gd name="adj" fmla="val 50000"/>
            </a:avLst>
          </a:prstGeom>
          <a:solidFill>
            <a:srgbClr val="1F1B4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74336" y="5175504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운영계획서 (FITT-VP)</a:t>
            </a:r>
            <a:endParaRPr lang="en-US" sz="108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74243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8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포인트   </a:t>
            </a:r>
            <a:r>
              <a:rPr lang="en-US" sz="1200" i="1" dirty="0">
                <a:solidFill>
                  <a:srgbClr val="6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대상자–운동목표 적합성 · 사용자 중심 설계의 완성도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795967" y="6291072"/>
            <a:ext cx="310896" cy="310896"/>
          </a:xfrm>
          <a:prstGeom prst="ellipse">
            <a:avLst/>
          </a:prstGeom>
          <a:solidFill>
            <a:srgbClr val="DFF4F2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22815" y="628192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180015" y="6291072"/>
            <a:ext cx="310896" cy="310896"/>
          </a:xfrm>
          <a:prstGeom prst="ellipse">
            <a:avLst/>
          </a:prstGeom>
          <a:solidFill>
            <a:srgbClr val="DFF4F2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06863" y="628192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564063" y="6291072"/>
            <a:ext cx="310896" cy="310896"/>
          </a:xfrm>
          <a:prstGeom prst="ellipse">
            <a:avLst/>
          </a:prstGeom>
          <a:solidFill>
            <a:srgbClr val="F2A93B"/>
          </a:solidFill>
          <a:ln w="12700">
            <a:solidFill>
              <a:srgbClr val="D98E1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90911" y="628192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948111" y="6291072"/>
            <a:ext cx="310896" cy="310896"/>
          </a:xfrm>
          <a:prstGeom prst="ellipse">
            <a:avLst/>
          </a:prstGeom>
          <a:solidFill>
            <a:srgbClr val="DFF4F2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874959" y="628192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1332159" y="6291072"/>
            <a:ext cx="310896" cy="310896"/>
          </a:xfrm>
          <a:prstGeom prst="ellipse">
            <a:avLst/>
          </a:prstGeom>
          <a:solidFill>
            <a:srgbClr val="DFF4F2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259007" y="628192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36" name="Oval 35"/>
          <p:cNvSpPr/>
          <p:nvPr/>
        </p:nvSpPr>
        <p:spPr>
          <a:xfrm>
            <a:off x="4425696" y="512064"/>
            <a:ext cx="384048" cy="384048"/>
          </a:xfrm>
          <a:prstGeom prst="ellipse">
            <a:avLst/>
          </a:prstGeom>
          <a:solidFill>
            <a:srgbClr val="0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stage-des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186" y="596554"/>
            <a:ext cx="215066" cy="2150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48640" y="45720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F2A93B"/>
          </a:solidFill>
          <a:ln/>
          <a:effectLst>
            <a:outerShdw blurRad="127000" dist="38100" dir="5400000" algn="bl" rotWithShape="0">
              <a:srgbClr val="1B1440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45720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600" b="1" dirty="0">
                <a:solidFill>
                  <a:srgbClr val="1F1B4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mbria" pitchFamily="34" charset="-120"/>
              </a:rPr>
              <a:t>12</a:t>
            </a:r>
            <a:endParaRPr lang="en-US" sz="2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10241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F1B4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주차</a:t>
            </a:r>
            <a:endParaRPr 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600200" y="512064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DF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00200" y="51206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0B7A7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PBL 4단계 · 구현  ·  Build</a:t>
            </a:r>
            <a:endParaRPr lang="en-US" sz="1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600200" y="93268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500" b="1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mbria" pitchFamily="34" charset="-120"/>
              </a:rPr>
              <a:t>디지털 헬스케어 서비스 개발</a:t>
            </a:r>
            <a:endParaRPr lang="en-US" sz="2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1737360"/>
            <a:ext cx="6675120" cy="1325880"/>
          </a:xfrm>
          <a:prstGeom prst="roundRect">
            <a:avLst>
              <a:gd name="adj" fmla="val 3175"/>
            </a:avLst>
          </a:prstGeom>
          <a:solidFill>
            <a:srgbClr val="F6F6FC"/>
          </a:solidFill>
          <a:ln w="12700">
            <a:solidFill>
              <a:srgbClr val="E4E3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1956816"/>
            <a:ext cx="274320" cy="274320"/>
          </a:xfrm>
          <a:prstGeom prst="rect">
            <a:avLst/>
          </a:prstGeom>
          <a:solidFill>
            <a:srgbClr val="1F1B4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34440" y="192024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수업 목표</a:t>
            </a:r>
            <a:endParaRPr 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41248" y="233172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대상자 요구를 반영한 디지털 헬스케어 서비스 프로토타입을 구현한다</a:t>
            </a:r>
            <a:endParaRPr lang="en-US" sz="12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7800" indent="-177800">
              <a:lnSpc>
                <a:spcPct val="15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Figma·앱인벤터로 UI/UX 및 핵심 기능을 구현한다</a:t>
            </a:r>
            <a:endParaRPr lang="en-US" sz="12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6675120" cy="1627632"/>
          </a:xfrm>
          <a:prstGeom prst="roundRect">
            <a:avLst>
              <a:gd name="adj" fmla="val 3175"/>
            </a:avLst>
          </a:prstGeom>
          <a:solidFill>
            <a:srgbClr val="F6F6FC"/>
          </a:solidFill>
          <a:ln w="12700">
            <a:solidFill>
              <a:srgbClr val="E4E3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3374136"/>
            <a:ext cx="274320" cy="274320"/>
          </a:xfrm>
          <a:prstGeom prst="rect">
            <a:avLst/>
          </a:prstGeom>
          <a:solidFill>
            <a:srgbClr val="0B7A7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234440" y="333756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핵심 활동</a:t>
            </a:r>
            <a:endParaRPr 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41248" y="379476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Figma로 화면(UI)·사용자 흐름 구현, 앱인벤터/바이브 코딩으로 기능 구현</a:t>
            </a:r>
            <a:endParaRPr lang="en-US" sz="12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7800" indent="-177800">
              <a:lnSpc>
                <a:spcPct val="15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팀원 역할 분담으로 프로토타입 통합·시연·오류 점검</a:t>
            </a:r>
            <a:endParaRPr lang="en-US" sz="12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7800" indent="-177800">
              <a:lnSpc>
                <a:spcPct val="15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생성형 AI로 UI·기능 구현 지원 및 결과 검토</a:t>
            </a:r>
            <a:endParaRPr lang="en-US" sz="12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548640" y="487375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221224"/>
            <a:ext cx="1345997" cy="384048"/>
          </a:xfrm>
          <a:prstGeom prst="roundRect">
            <a:avLst>
              <a:gd name="adj" fmla="val 50000"/>
            </a:avLst>
          </a:prstGeom>
          <a:solidFill>
            <a:srgbClr val="1F1B4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221224"/>
            <a:ext cx="13459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프로토타입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2059229" y="5221224"/>
            <a:ext cx="2516429" cy="384048"/>
          </a:xfrm>
          <a:prstGeom prst="roundRect">
            <a:avLst>
              <a:gd name="adj" fmla="val 50000"/>
            </a:avLst>
          </a:prstGeom>
          <a:solidFill>
            <a:srgbClr val="1F1B4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059229" y="5221224"/>
            <a:ext cx="25164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화면설계서 (Figma)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4740250" y="5221224"/>
            <a:ext cx="1345997" cy="384048"/>
          </a:xfrm>
          <a:prstGeom prst="roundRect">
            <a:avLst>
              <a:gd name="adj" fmla="val 50000"/>
            </a:avLst>
          </a:prstGeom>
          <a:solidFill>
            <a:srgbClr val="1F1B4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740250" y="5221224"/>
            <a:ext cx="13459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기능명세서</a:t>
            </a:r>
            <a:endParaRPr lang="en-US" sz="108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74243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8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포인트   </a:t>
            </a:r>
            <a:r>
              <a:rPr lang="en-US" sz="1200" i="1" dirty="0">
                <a:solidFill>
                  <a:srgbClr val="6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구현 완성도 · 프로그램-기능 연계성 · 팀 역할 수행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795967" y="6291072"/>
            <a:ext cx="310896" cy="310896"/>
          </a:xfrm>
          <a:prstGeom prst="ellipse">
            <a:avLst/>
          </a:prstGeom>
          <a:solidFill>
            <a:srgbClr val="DFF4F2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22815" y="628192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180015" y="6291072"/>
            <a:ext cx="310896" cy="310896"/>
          </a:xfrm>
          <a:prstGeom prst="ellipse">
            <a:avLst/>
          </a:prstGeom>
          <a:solidFill>
            <a:srgbClr val="DFF4F2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06863" y="628192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564063" y="6291072"/>
            <a:ext cx="310896" cy="310896"/>
          </a:xfrm>
          <a:prstGeom prst="ellipse">
            <a:avLst/>
          </a:prstGeom>
          <a:solidFill>
            <a:srgbClr val="DFF4F2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90911" y="628192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948111" y="6291072"/>
            <a:ext cx="310896" cy="310896"/>
          </a:xfrm>
          <a:prstGeom prst="ellipse">
            <a:avLst/>
          </a:prstGeom>
          <a:solidFill>
            <a:srgbClr val="F2A93B"/>
          </a:solidFill>
          <a:ln w="12700">
            <a:solidFill>
              <a:srgbClr val="D98E1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874959" y="628192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1332159" y="6291072"/>
            <a:ext cx="310896" cy="310896"/>
          </a:xfrm>
          <a:prstGeom prst="ellipse">
            <a:avLst/>
          </a:prstGeom>
          <a:solidFill>
            <a:srgbClr val="DFF4F2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259007" y="628192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36" name="Oval 35"/>
          <p:cNvSpPr/>
          <p:nvPr/>
        </p:nvSpPr>
        <p:spPr>
          <a:xfrm>
            <a:off x="4425696" y="512064"/>
            <a:ext cx="384048" cy="384048"/>
          </a:xfrm>
          <a:prstGeom prst="ellipse">
            <a:avLst/>
          </a:prstGeom>
          <a:solidFill>
            <a:srgbClr val="0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stage-bu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186" y="596554"/>
            <a:ext cx="215066" cy="215066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7406640" y="1737360"/>
            <a:ext cx="4233672" cy="3840480"/>
          </a:xfrm>
          <a:prstGeom prst="roundRect">
            <a:avLst>
              <a:gd name="adj" fmla="val 3500"/>
            </a:avLst>
          </a:prstGeom>
          <a:solidFill>
            <a:srgbClr val="F6F6FC"/>
          </a:solidFill>
          <a:ln w="12700">
            <a:solidFill>
              <a:srgbClr val="E4E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7635240" y="1938528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0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dirty="0" err="1">
                <a:solidFill>
                  <a:srgbClr val="FFFFFF"/>
                </a:solidFill>
              </a:rPr>
              <a:t>결과물</a:t>
            </a:r>
            <a:r>
              <a:rPr sz="1100" b="1" dirty="0">
                <a:solidFill>
                  <a:srgbClr val="FFFFFF"/>
                </a:solidFill>
              </a:rPr>
              <a:t> </a:t>
            </a:r>
            <a:r>
              <a:rPr sz="1100" b="1" dirty="0" err="1">
                <a:solidFill>
                  <a:srgbClr val="FFFFFF"/>
                </a:solidFill>
              </a:rPr>
              <a:t>예시</a:t>
            </a:r>
            <a:endParaRPr sz="1100" b="1" dirty="0">
              <a:solidFill>
                <a:srgbClr val="FFFFFF"/>
              </a:solidFill>
            </a:endParaRPr>
          </a:p>
        </p:txBody>
      </p:sp>
      <p:pic>
        <p:nvPicPr>
          <p:cNvPr id="40" name="Picture 39" descr="든든워크 - 균형운동 추천 시스템 프로토타입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19" y="2395728"/>
            <a:ext cx="3867911" cy="2522686"/>
          </a:xfrm>
          <a:prstGeom prst="rect">
            <a:avLst/>
          </a:prstGeom>
          <a:ln w="9525">
            <a:solidFill>
              <a:srgbClr val="E4E3F1"/>
            </a:solidFill>
          </a:ln>
        </p:spPr>
      </p:pic>
      <p:sp>
        <p:nvSpPr>
          <p:cNvPr id="41" name="TextBox 40"/>
          <p:cNvSpPr txBox="1"/>
          <p:nvPr/>
        </p:nvSpPr>
        <p:spPr>
          <a:xfrm>
            <a:off x="7635240" y="5028142"/>
            <a:ext cx="3776472" cy="4765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A2840"/>
                </a:solidFill>
              </a:rPr>
              <a:t>든든워크 — 낙상위험 분석 · 맞춤 운동 추천 앱</a:t>
            </a:r>
          </a:p>
          <a:p>
            <a:r>
              <a:rPr sz="950">
                <a:solidFill>
                  <a:srgbClr val="8A8A99"/>
                </a:solidFill>
              </a:rPr>
              <a:t>균형운동 추천 PBL 예시 프로토타입 (Figma)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kern="0" spc="200" dirty="0">
                <a:solidFill>
                  <a:srgbClr val="0B7A7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참고 영상</a:t>
            </a:r>
            <a:endParaRPr lang="en-US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mbria" pitchFamily="34" charset="-120"/>
              </a:rPr>
              <a:t>학생 제작 앱 프로토타입, 이런 느낌입니다</a:t>
            </a:r>
            <a:endParaRPr lang="en-US" sz="2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6E6B8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아래 영상은 이해를 돕기 위한 가상의 예시 앱입니다 — 여러분은 팀이 정한 건강 문제에 맞춘 서비스를 직접 기획·구현합니다.</a:t>
            </a:r>
            <a:endParaRPr lang="en-US" sz="13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KakaoTalk_20260702_163443773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929987" y="1783080"/>
            <a:ext cx="2331720" cy="4663440"/>
          </a:xfrm>
          <a:prstGeom prst="rect">
            <a:avLst/>
          </a:prstGeom>
          <a:ln w="12700">
            <a:solidFill>
              <a:srgbClr val="E4E3F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3101187" y="6583680"/>
            <a:ext cx="5989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6B6B7C"/>
                </a:solidFill>
              </a:rPr>
              <a:t>예시: 앱인벤터로 제작한 프로토타입 데모 영상 (건강 기록 앱 예시)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48640" y="45720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F2A93B"/>
          </a:solidFill>
          <a:ln/>
          <a:effectLst>
            <a:outerShdw blurRad="127000" dist="38100" dir="5400000" algn="bl" rotWithShape="0">
              <a:srgbClr val="1B1440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45720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600" b="1" dirty="0">
                <a:solidFill>
                  <a:srgbClr val="1F1B4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mbria" pitchFamily="34" charset="-120"/>
              </a:rPr>
              <a:t>13</a:t>
            </a:r>
            <a:endParaRPr lang="en-US" sz="2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10241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F1B4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주차</a:t>
            </a:r>
            <a:endParaRPr 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600200" y="512064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DF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00200" y="51206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0B7A7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PBL 5단계 · 고도화  ·  Refine</a:t>
            </a:r>
            <a:endParaRPr lang="en-US" sz="1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600200" y="93268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500" b="1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mbria" pitchFamily="34" charset="-120"/>
              </a:rPr>
              <a:t>프로젝트 고도화 및 통합 설계</a:t>
            </a:r>
            <a:endParaRPr lang="en-US" sz="2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1737360"/>
            <a:ext cx="5257800" cy="2880360"/>
          </a:xfrm>
          <a:prstGeom prst="roundRect">
            <a:avLst>
              <a:gd name="adj" fmla="val 3175"/>
            </a:avLst>
          </a:prstGeom>
          <a:solidFill>
            <a:srgbClr val="F6F6FC"/>
          </a:solidFill>
          <a:ln w="12700">
            <a:solidFill>
              <a:srgbClr val="E4E3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011680"/>
            <a:ext cx="274320" cy="274320"/>
          </a:xfrm>
          <a:prstGeom prst="rect">
            <a:avLst/>
          </a:prstGeom>
          <a:solidFill>
            <a:srgbClr val="1F1B4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34440" y="1975104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수업 목표</a:t>
            </a:r>
            <a:endParaRPr 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41248" y="2487168"/>
            <a:ext cx="467258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문제정의부터 프로토타입까지의 산출물을 통합해 완성도를 높인다</a:t>
            </a:r>
            <a:endParaRPr lang="en-US" sz="12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7800" indent="-177800">
              <a:lnSpc>
                <a:spcPct val="15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최종 프로젝트 보고서를 작성하고 서비스의 실현 가능성을 제시한다</a:t>
            </a:r>
            <a:endParaRPr lang="en-US" sz="12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26480" y="1737360"/>
            <a:ext cx="5257800" cy="2880360"/>
          </a:xfrm>
          <a:prstGeom prst="roundRect">
            <a:avLst>
              <a:gd name="adj" fmla="val 3175"/>
            </a:avLst>
          </a:prstGeom>
          <a:solidFill>
            <a:srgbClr val="F6F6FC"/>
          </a:solidFill>
          <a:ln w="12700">
            <a:solidFill>
              <a:srgbClr val="E4E3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19088" y="2011680"/>
            <a:ext cx="274320" cy="274320"/>
          </a:xfrm>
          <a:prstGeom prst="rect">
            <a:avLst/>
          </a:prstGeom>
          <a:solidFill>
            <a:srgbClr val="0B7A7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12280" y="1975104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핵심 활동</a:t>
            </a:r>
            <a:endParaRPr 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419088" y="2487168"/>
            <a:ext cx="467258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산출물 통합(문제정의서·분석서·설계서·프로토타입), 운영 시나리오 구체화</a:t>
            </a:r>
            <a:endParaRPr lang="en-US" sz="12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7800" indent="-177800">
              <a:lnSpc>
                <a:spcPct val="15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생성형 AI로 보고서의 논리성·완성도 제고, 팀별 역할 분담 작성</a:t>
            </a:r>
            <a:endParaRPr lang="en-US" sz="12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7800" indent="-177800">
              <a:lnSpc>
                <a:spcPct val="15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최종 보고서 GitHub·LMS 제출</a:t>
            </a:r>
            <a:endParaRPr lang="en-US" sz="12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548640" y="482803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175504"/>
            <a:ext cx="3803904" cy="384048"/>
          </a:xfrm>
          <a:prstGeom prst="roundRect">
            <a:avLst>
              <a:gd name="adj" fmla="val 50000"/>
            </a:avLst>
          </a:prstGeom>
          <a:solidFill>
            <a:srgbClr val="1F1B4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175504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프로젝트 보고서 (서비스 활용방안·개선방향 포함)</a:t>
            </a:r>
            <a:endParaRPr lang="en-US" sz="108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74243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8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포인트   </a:t>
            </a:r>
            <a:r>
              <a:rPr lang="en-US" sz="1200" i="1" dirty="0">
                <a:solidFill>
                  <a:srgbClr val="6E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결과물 완성도 · 프로그램-서비스 연계성 · 실현 가능성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795967" y="6291072"/>
            <a:ext cx="310896" cy="310896"/>
          </a:xfrm>
          <a:prstGeom prst="ellipse">
            <a:avLst/>
          </a:prstGeom>
          <a:solidFill>
            <a:srgbClr val="DFF4F2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22815" y="628192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180015" y="6291072"/>
            <a:ext cx="310896" cy="310896"/>
          </a:xfrm>
          <a:prstGeom prst="ellipse">
            <a:avLst/>
          </a:prstGeom>
          <a:solidFill>
            <a:srgbClr val="DFF4F2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06863" y="628192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564063" y="6291072"/>
            <a:ext cx="310896" cy="310896"/>
          </a:xfrm>
          <a:prstGeom prst="ellipse">
            <a:avLst/>
          </a:prstGeom>
          <a:solidFill>
            <a:srgbClr val="DFF4F2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90911" y="628192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948111" y="6291072"/>
            <a:ext cx="310896" cy="310896"/>
          </a:xfrm>
          <a:prstGeom prst="ellipse">
            <a:avLst/>
          </a:prstGeom>
          <a:solidFill>
            <a:srgbClr val="DFF4F2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874959" y="628192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1332159" y="6291072"/>
            <a:ext cx="310896" cy="310896"/>
          </a:xfrm>
          <a:prstGeom prst="ellipse">
            <a:avLst/>
          </a:prstGeom>
          <a:solidFill>
            <a:srgbClr val="F2A93B"/>
          </a:solidFill>
          <a:ln w="12700">
            <a:solidFill>
              <a:srgbClr val="D98E1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259007" y="628192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32" name="Oval 31"/>
          <p:cNvSpPr/>
          <p:nvPr/>
        </p:nvSpPr>
        <p:spPr>
          <a:xfrm>
            <a:off x="4425696" y="512064"/>
            <a:ext cx="384048" cy="384048"/>
          </a:xfrm>
          <a:prstGeom prst="ellipse">
            <a:avLst/>
          </a:prstGeom>
          <a:solidFill>
            <a:srgbClr val="0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stage-ref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186" y="596554"/>
            <a:ext cx="215066" cy="2150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kern="0" spc="200" dirty="0">
                <a:solidFill>
                  <a:srgbClr val="0B7A7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팀 운영 방식</a:t>
            </a:r>
            <a:endParaRPr lang="en-US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mbria" pitchFamily="34" charset="-120"/>
              </a:rPr>
              <a:t>팀 구성과 함께 쓸 협업 도구</a:t>
            </a:r>
            <a:endParaRPr lang="en-US" sz="2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6E6B8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팀은 3명 내외로 구성되며, 9~13주차 전 과정의 산출물은 아래 도구를 통해 기록·공유·제출합니다.</a:t>
            </a:r>
            <a:endParaRPr lang="en-US" sz="13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364992" cy="1417320"/>
          </a:xfrm>
          <a:prstGeom prst="roundRect">
            <a:avLst>
              <a:gd name="adj" fmla="val 6452"/>
            </a:avLst>
          </a:prstGeom>
          <a:solidFill>
            <a:srgbClr val="F6F6FC"/>
          </a:solidFill>
          <a:ln w="12700">
            <a:solidFill>
              <a:srgbClr val="E4E3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220370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0FA3A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203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1</a:t>
            </a:r>
            <a:endParaRPr 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04672" y="2679192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GitHub</a:t>
            </a:r>
            <a:endParaRPr 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04672" y="2971800"/>
            <a:ext cx="2852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80" dirty="0">
                <a:solidFill>
                  <a:srgbClr val="6E6B8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개인 Repository에 주차별 초안을 업로드해 버전 관리 및 포트폴리오로 활용</a:t>
            </a:r>
            <a:endParaRPr lang="en-US" sz="10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69664" y="1965960"/>
            <a:ext cx="3364992" cy="1417320"/>
          </a:xfrm>
          <a:prstGeom prst="roundRect">
            <a:avLst>
              <a:gd name="adj" fmla="val 6452"/>
            </a:avLst>
          </a:prstGeom>
          <a:solidFill>
            <a:srgbClr val="F6F6FC"/>
          </a:solidFill>
          <a:ln w="12700">
            <a:solidFill>
              <a:srgbClr val="E4E3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25696" y="220370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0FA3A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425696" y="2203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2</a:t>
            </a:r>
            <a:endParaRPr 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425696" y="2679192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패들렛 (Padlet)</a:t>
            </a:r>
            <a:endParaRPr 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4425696" y="2971800"/>
            <a:ext cx="2852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80" dirty="0">
                <a:solidFill>
                  <a:srgbClr val="6E6B8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팀별 조사 자료·설계안·프로토타입을 실시간 기록하고 팀 간 상호 열람</a:t>
            </a:r>
            <a:endParaRPr lang="en-US" sz="10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790688" y="1965960"/>
            <a:ext cx="3364992" cy="1417320"/>
          </a:xfrm>
          <a:prstGeom prst="roundRect">
            <a:avLst>
              <a:gd name="adj" fmla="val 6452"/>
            </a:avLst>
          </a:prstGeom>
          <a:solidFill>
            <a:srgbClr val="F6F6FC"/>
          </a:solidFill>
          <a:ln w="12700">
            <a:solidFill>
              <a:srgbClr val="E4E3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220370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0FA3A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46720" y="2203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3</a:t>
            </a:r>
            <a:endParaRPr 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8046720" y="2679192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구글 프레젠테이션</a:t>
            </a:r>
            <a:endParaRPr 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8046720" y="2971800"/>
            <a:ext cx="2852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80" dirty="0">
                <a:solidFill>
                  <a:srgbClr val="6E6B8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문제정의서·설계서 등 팀 문서를 공동 작성</a:t>
            </a:r>
            <a:endParaRPr lang="en-US" sz="10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48640" y="3611880"/>
            <a:ext cx="3364992" cy="1417320"/>
          </a:xfrm>
          <a:prstGeom prst="roundRect">
            <a:avLst>
              <a:gd name="adj" fmla="val 6452"/>
            </a:avLst>
          </a:prstGeom>
          <a:solidFill>
            <a:srgbClr val="F6F6FC"/>
          </a:solidFill>
          <a:ln w="12700">
            <a:solidFill>
              <a:srgbClr val="E4E3F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" y="384962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1F1B4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4672" y="3849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4</a:t>
            </a:r>
            <a:endParaRPr 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804672" y="4325112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Figma · 앱인벤터</a:t>
            </a:r>
            <a:endParaRPr 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804672" y="4617720"/>
            <a:ext cx="2852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80" dirty="0">
                <a:solidFill>
                  <a:srgbClr val="6E6B8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서비스 화면(UI)과 프로토타입을 제작하는 노코드/디자인 도구</a:t>
            </a:r>
            <a:endParaRPr lang="en-US" sz="10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169664" y="3611880"/>
            <a:ext cx="3364992" cy="1417320"/>
          </a:xfrm>
          <a:prstGeom prst="roundRect">
            <a:avLst>
              <a:gd name="adj" fmla="val 6452"/>
            </a:avLst>
          </a:prstGeom>
          <a:solidFill>
            <a:srgbClr val="F6F6FC"/>
          </a:solidFill>
          <a:ln w="12700">
            <a:solidFill>
              <a:srgbClr val="E4E3F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25696" y="384962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1F1B4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425696" y="3849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5</a:t>
            </a:r>
            <a:endParaRPr 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4425696" y="4325112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생성형 AI</a:t>
            </a:r>
            <a:endParaRPr 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4425696" y="4617720"/>
            <a:ext cx="2852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80" dirty="0">
                <a:solidFill>
                  <a:srgbClr val="6E6B8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ChatGPT·Claude로 자료 탐색·아이디어 고도화·보고서 작성을 지원 (활용 내용은 기록·검증)</a:t>
            </a:r>
            <a:endParaRPr lang="en-US" sz="10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790688" y="3611880"/>
            <a:ext cx="3364992" cy="1417320"/>
          </a:xfrm>
          <a:prstGeom prst="roundRect">
            <a:avLst>
              <a:gd name="adj" fmla="val 6452"/>
            </a:avLst>
          </a:prstGeom>
          <a:solidFill>
            <a:srgbClr val="F6F6FC"/>
          </a:solidFill>
          <a:ln w="12700">
            <a:solidFill>
              <a:srgbClr val="E4E3F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46720" y="384962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1F1B4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046720" y="3849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6</a:t>
            </a:r>
            <a:endParaRPr 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8046720" y="4325112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원격교육시스템(LMS)</a:t>
            </a:r>
            <a:endParaRPr 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8046720" y="4617720"/>
            <a:ext cx="2852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80" dirty="0">
                <a:solidFill>
                  <a:srgbClr val="6E6B8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주차별 강의자료 배포 및 전 과제·산출물 제출 창구</a:t>
            </a:r>
            <a:endParaRPr lang="en-US" sz="10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3392424" y="2084831"/>
            <a:ext cx="402336" cy="402336"/>
          </a:xfrm>
          <a:prstGeom prst="ellipse">
            <a:avLst/>
          </a:prstGeom>
          <a:solidFill>
            <a:srgbClr val="1F1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tool-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0937" y="2173345"/>
            <a:ext cx="225308" cy="225308"/>
          </a:xfrm>
          <a:prstGeom prst="rect">
            <a:avLst/>
          </a:prstGeom>
        </p:spPr>
      </p:pic>
      <p:sp>
        <p:nvSpPr>
          <p:cNvPr id="39" name="Oval 38"/>
          <p:cNvSpPr/>
          <p:nvPr/>
        </p:nvSpPr>
        <p:spPr>
          <a:xfrm>
            <a:off x="7013448" y="2084831"/>
            <a:ext cx="402336" cy="402336"/>
          </a:xfrm>
          <a:prstGeom prst="ellipse">
            <a:avLst/>
          </a:prstGeom>
          <a:solidFill>
            <a:srgbClr val="1F1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tool-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1961" y="2173345"/>
            <a:ext cx="225308" cy="225308"/>
          </a:xfrm>
          <a:prstGeom prst="rect">
            <a:avLst/>
          </a:prstGeom>
        </p:spPr>
      </p:pic>
      <p:sp>
        <p:nvSpPr>
          <p:cNvPr id="41" name="Oval 40"/>
          <p:cNvSpPr/>
          <p:nvPr/>
        </p:nvSpPr>
        <p:spPr>
          <a:xfrm>
            <a:off x="10634472" y="2084831"/>
            <a:ext cx="402336" cy="402336"/>
          </a:xfrm>
          <a:prstGeom prst="ellipse">
            <a:avLst/>
          </a:prstGeom>
          <a:solidFill>
            <a:srgbClr val="1F1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tool-slid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22985" y="2173345"/>
            <a:ext cx="225308" cy="225308"/>
          </a:xfrm>
          <a:prstGeom prst="rect">
            <a:avLst/>
          </a:prstGeom>
        </p:spPr>
      </p:pic>
      <p:sp>
        <p:nvSpPr>
          <p:cNvPr id="43" name="Oval 42"/>
          <p:cNvSpPr/>
          <p:nvPr/>
        </p:nvSpPr>
        <p:spPr>
          <a:xfrm>
            <a:off x="3392424" y="3730752"/>
            <a:ext cx="402336" cy="402336"/>
          </a:xfrm>
          <a:prstGeom prst="ellipse">
            <a:avLst/>
          </a:prstGeom>
          <a:solidFill>
            <a:srgbClr val="1F1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tool-desig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0937" y="3819265"/>
            <a:ext cx="225308" cy="225308"/>
          </a:xfrm>
          <a:prstGeom prst="rect">
            <a:avLst/>
          </a:prstGeom>
        </p:spPr>
      </p:pic>
      <p:sp>
        <p:nvSpPr>
          <p:cNvPr id="45" name="Oval 44"/>
          <p:cNvSpPr/>
          <p:nvPr/>
        </p:nvSpPr>
        <p:spPr>
          <a:xfrm>
            <a:off x="7013448" y="3730752"/>
            <a:ext cx="402336" cy="402336"/>
          </a:xfrm>
          <a:prstGeom prst="ellipse">
            <a:avLst/>
          </a:prstGeom>
          <a:solidFill>
            <a:srgbClr val="1F1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tool-a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1961" y="3819265"/>
            <a:ext cx="225308" cy="225308"/>
          </a:xfrm>
          <a:prstGeom prst="rect">
            <a:avLst/>
          </a:prstGeom>
        </p:spPr>
      </p:pic>
      <p:sp>
        <p:nvSpPr>
          <p:cNvPr id="47" name="Oval 46"/>
          <p:cNvSpPr/>
          <p:nvPr/>
        </p:nvSpPr>
        <p:spPr>
          <a:xfrm>
            <a:off x="10634472" y="3730752"/>
            <a:ext cx="402336" cy="402336"/>
          </a:xfrm>
          <a:prstGeom prst="ellipse">
            <a:avLst/>
          </a:prstGeom>
          <a:solidFill>
            <a:srgbClr val="1F1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tool-lm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22985" y="3819265"/>
            <a:ext cx="225308" cy="2253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kern="0" spc="200" dirty="0">
                <a:solidFill>
                  <a:srgbClr val="0B7A7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학습 평가</a:t>
            </a:r>
            <a:endParaRPr lang="en-US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mbria" pitchFamily="34" charset="-120"/>
              </a:rPr>
              <a:t>9~13주차는 성적에 어떻게 반영되나요?</a:t>
            </a:r>
            <a:endParaRPr lang="en-US" sz="2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246120" cy="1737360"/>
          </a:xfrm>
          <a:prstGeom prst="roundRect">
            <a:avLst>
              <a:gd name="adj" fmla="val 6316"/>
            </a:avLst>
          </a:prstGeom>
          <a:solidFill>
            <a:srgbClr val="1F1B4C"/>
          </a:solidFill>
          <a:ln/>
          <a:effectLst>
            <a:outerShdw blurRad="127000" dist="38100" dir="5400000" algn="bl" rotWithShape="0">
              <a:srgbClr val="1B144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48640" y="1719072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4600" b="1" dirty="0">
                <a:solidFill>
                  <a:srgbClr val="F2A93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mbria" pitchFamily="34" charset="-120"/>
              </a:rPr>
              <a:t>30%</a:t>
            </a:r>
            <a:endParaRPr lang="en-US" sz="4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22960" y="260604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50" dirty="0">
                <a:solidFill>
                  <a:srgbClr val="DFF4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팀 프로젝트</a:t>
            </a:r>
            <a:endParaRPr lang="en-US" sz="1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50" dirty="0">
                <a:solidFill>
                  <a:srgbClr val="DFF4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(9~13주차 PBL 결과물, 성적 비중 최대)</a:t>
            </a:r>
            <a:endParaRPr lang="en-US" sz="1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069080" y="1554480"/>
            <a:ext cx="3246120" cy="1737360"/>
          </a:xfrm>
          <a:prstGeom prst="roundRect">
            <a:avLst>
              <a:gd name="adj" fmla="val 6316"/>
            </a:avLst>
          </a:prstGeom>
          <a:solidFill>
            <a:srgbClr val="F6F6FC"/>
          </a:solidFill>
          <a:ln w="12700">
            <a:solidFill>
              <a:srgbClr val="E4E3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69080" y="1719072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4600" b="1" dirty="0">
                <a:solidFill>
                  <a:srgbClr val="0B7A7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mbria" pitchFamily="34" charset="-120"/>
              </a:rPr>
              <a:t>10%</a:t>
            </a:r>
            <a:endParaRPr lang="en-US" sz="4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343400" y="260604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50" dirty="0">
                <a:solidFill>
                  <a:srgbClr val="6E6B8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기말고사</a:t>
            </a:r>
            <a:endParaRPr lang="en-US" sz="1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50" dirty="0">
                <a:solidFill>
                  <a:srgbClr val="6E6B8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(16주차 · 9~13주차 내용 출제)</a:t>
            </a:r>
            <a:endParaRPr lang="en-US" sz="1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635240" y="1554480"/>
            <a:ext cx="3337560" cy="1737360"/>
          </a:xfrm>
          <a:prstGeom prst="roundRect">
            <a:avLst>
              <a:gd name="adj" fmla="val 6316"/>
            </a:avLst>
          </a:prstGeom>
          <a:solidFill>
            <a:srgbClr val="F6F6FC"/>
          </a:solidFill>
          <a:ln w="12700">
            <a:solidFill>
              <a:srgbClr val="E4E3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91272" y="1755648"/>
            <a:ext cx="2825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발표·토의 20%</a:t>
            </a:r>
            <a:endParaRPr 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7891272" y="2121408"/>
            <a:ext cx="2825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E6B8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2~7주차 팀 토론 + 14주차 최종 발표·동료평가가 함께 반영됩니다.</a:t>
            </a:r>
            <a:endParaRPr 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54864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팀 프로젝트 평가 배분</a:t>
            </a:r>
            <a:endParaRPr 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548640" y="388620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체계성</a:t>
            </a:r>
            <a:endParaRPr lang="en-US" sz="12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651760" y="3959352"/>
            <a:ext cx="7498080" cy="292608"/>
          </a:xfrm>
          <a:prstGeom prst="roundRect">
            <a:avLst>
              <a:gd name="adj" fmla="val 18750"/>
            </a:avLst>
          </a:prstGeom>
          <a:solidFill>
            <a:srgbClr val="EAEAF6"/>
          </a:solidFill>
          <a:ln/>
        </p:spPr>
      </p:sp>
      <p:sp>
        <p:nvSpPr>
          <p:cNvPr id="18" name="Shape 16"/>
          <p:cNvSpPr/>
          <p:nvPr/>
        </p:nvSpPr>
        <p:spPr>
          <a:xfrm>
            <a:off x="2651760" y="3959352"/>
            <a:ext cx="7498080" cy="292608"/>
          </a:xfrm>
          <a:prstGeom prst="roundRect">
            <a:avLst>
              <a:gd name="adj" fmla="val 18750"/>
            </a:avLst>
          </a:prstGeom>
          <a:solidFill>
            <a:srgbClr val="0FA3A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259568" y="3886200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6E6B8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30점</a:t>
            </a:r>
            <a:endParaRPr 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548640" y="441655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적절성</a:t>
            </a:r>
            <a:endParaRPr lang="en-US" sz="12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651760" y="4489704"/>
            <a:ext cx="7498080" cy="292608"/>
          </a:xfrm>
          <a:prstGeom prst="roundRect">
            <a:avLst>
              <a:gd name="adj" fmla="val 18750"/>
            </a:avLst>
          </a:prstGeom>
          <a:solidFill>
            <a:srgbClr val="EAEAF6"/>
          </a:solidFill>
          <a:ln/>
        </p:spPr>
      </p:sp>
      <p:sp>
        <p:nvSpPr>
          <p:cNvPr id="22" name="Shape 20"/>
          <p:cNvSpPr/>
          <p:nvPr/>
        </p:nvSpPr>
        <p:spPr>
          <a:xfrm>
            <a:off x="2651760" y="4489704"/>
            <a:ext cx="7498080" cy="292608"/>
          </a:xfrm>
          <a:prstGeom prst="roundRect">
            <a:avLst>
              <a:gd name="adj" fmla="val 18750"/>
            </a:avLst>
          </a:prstGeom>
          <a:solidFill>
            <a:srgbClr val="0FA3A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259568" y="4416552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6E6B8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30점</a:t>
            </a:r>
            <a:endParaRPr 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548640" y="494690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공동작업 여부</a:t>
            </a:r>
            <a:endParaRPr lang="en-US" sz="12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651760" y="5020056"/>
            <a:ext cx="7498080" cy="292608"/>
          </a:xfrm>
          <a:prstGeom prst="roundRect">
            <a:avLst>
              <a:gd name="adj" fmla="val 18750"/>
            </a:avLst>
          </a:prstGeom>
          <a:solidFill>
            <a:srgbClr val="EAEAF6"/>
          </a:solidFill>
          <a:ln/>
        </p:spPr>
      </p:sp>
      <p:sp>
        <p:nvSpPr>
          <p:cNvPr id="26" name="Shape 24"/>
          <p:cNvSpPr/>
          <p:nvPr/>
        </p:nvSpPr>
        <p:spPr>
          <a:xfrm>
            <a:off x="2651760" y="5020056"/>
            <a:ext cx="7498080" cy="292608"/>
          </a:xfrm>
          <a:prstGeom prst="roundRect">
            <a:avLst>
              <a:gd name="adj" fmla="val 18750"/>
            </a:avLst>
          </a:prstGeom>
          <a:solidFill>
            <a:srgbClr val="0FA3A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259568" y="4946904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6E6B8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30점</a:t>
            </a:r>
            <a:endParaRPr 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548640" y="547725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조원평가 실시</a:t>
            </a:r>
            <a:endParaRPr lang="en-US" sz="12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651760" y="5550408"/>
            <a:ext cx="7498080" cy="292608"/>
          </a:xfrm>
          <a:prstGeom prst="roundRect">
            <a:avLst>
              <a:gd name="adj" fmla="val 18750"/>
            </a:avLst>
          </a:prstGeom>
          <a:solidFill>
            <a:srgbClr val="EAEAF6"/>
          </a:solidFill>
          <a:ln/>
        </p:spPr>
      </p:sp>
      <p:sp>
        <p:nvSpPr>
          <p:cNvPr id="30" name="Shape 28"/>
          <p:cNvSpPr/>
          <p:nvPr/>
        </p:nvSpPr>
        <p:spPr>
          <a:xfrm>
            <a:off x="2651760" y="5550408"/>
            <a:ext cx="2499360" cy="292608"/>
          </a:xfrm>
          <a:prstGeom prst="roundRect">
            <a:avLst>
              <a:gd name="adj" fmla="val 18750"/>
            </a:avLst>
          </a:prstGeom>
          <a:solidFill>
            <a:srgbClr val="F2A93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259568" y="5477256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6E6B8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10점</a:t>
            </a:r>
            <a:endParaRPr 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548640" y="61539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i="1" dirty="0">
                <a:solidFill>
                  <a:srgbClr val="6E6B8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* 팀 프로젝트 100점 만점 기준 배분이며, 전체 성적에는 30%로 반영됩니다.</a:t>
            </a:r>
            <a:endParaRPr lang="en-US" sz="10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kern="0" spc="200" dirty="0">
                <a:solidFill>
                  <a:srgbClr val="0B7A7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다음 단계</a:t>
            </a:r>
            <a:endParaRPr lang="en-US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mbria" pitchFamily="34" charset="-120"/>
              </a:rPr>
              <a:t>13주차 이후, 그리고 지금 준비할 것</a:t>
            </a:r>
            <a:endParaRPr lang="en-US" sz="2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074920" cy="1691640"/>
          </a:xfrm>
          <a:prstGeom prst="roundRect">
            <a:avLst>
              <a:gd name="adj" fmla="val 5405"/>
            </a:avLst>
          </a:prstGeom>
          <a:solidFill>
            <a:srgbClr val="F6F6FC"/>
          </a:solidFill>
          <a:ln w="12700">
            <a:solidFill>
              <a:srgbClr val="E4E3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56232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1F1B4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8562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F2A93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14주차</a:t>
            </a:r>
            <a:endParaRPr lang="en-US" sz="1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22960" y="23317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PBL 최종 결과물 발표(PT) 및 동료평가</a:t>
            </a:r>
            <a:endParaRPr 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22960" y="271576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E6B8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팀별 15분 내외 발표 · 개인별 자기성찰보고서 제출</a:t>
            </a:r>
            <a:endParaRPr lang="en-US" sz="1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897880" y="1600200"/>
            <a:ext cx="5074920" cy="1691640"/>
          </a:xfrm>
          <a:prstGeom prst="roundRect">
            <a:avLst>
              <a:gd name="adj" fmla="val 5405"/>
            </a:avLst>
          </a:prstGeom>
          <a:solidFill>
            <a:srgbClr val="F6F6FC"/>
          </a:solidFill>
          <a:ln w="12700">
            <a:solidFill>
              <a:srgbClr val="E4E3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856232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1F1B4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72200" y="18562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F2A93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16주차</a:t>
            </a:r>
            <a:endParaRPr lang="en-US" sz="1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172200" y="23317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기말고사</a:t>
            </a:r>
            <a:endParaRPr 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172200" y="271576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E6B8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9~13주차 학습 내용 중 주관식·객관식 출제</a:t>
            </a:r>
            <a:endParaRPr lang="en-US" sz="1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548640" y="3569545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9주차 전 체크리스트</a:t>
            </a:r>
            <a:endParaRPr 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9050">
            <a:solidFill>
              <a:srgbClr val="0FA3A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005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B7A7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✓</a:t>
            </a:r>
            <a:endParaRPr lang="en-US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969264" y="3968496"/>
            <a:ext cx="46542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80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개인 GitHub 계정 생성 및 Repository 사용법 숙지</a:t>
            </a:r>
            <a:endParaRPr lang="en-US" sz="11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897880" y="40233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9050">
            <a:solidFill>
              <a:srgbClr val="0FA3A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897880" y="4005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B7A7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✓</a:t>
            </a:r>
            <a:endParaRPr lang="en-US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6318504" y="3968496"/>
            <a:ext cx="46542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80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패들렛(Padlet) 계정 준비 및 기본 사용법 확인</a:t>
            </a:r>
            <a:endParaRPr lang="en-US" sz="11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48640" y="475488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9050">
            <a:solidFill>
              <a:srgbClr val="0FA3A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4736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B7A7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✓</a:t>
            </a:r>
            <a:endParaRPr lang="en-US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969264" y="4700016"/>
            <a:ext cx="46542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80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Figma · 앱인벤터 계정 준비 (12주차 프로토타입 제작용)</a:t>
            </a:r>
            <a:endParaRPr lang="en-US" sz="11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897880" y="475488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9050">
            <a:solidFill>
              <a:srgbClr val="0FA3A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897880" y="4736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B7A7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✓</a:t>
            </a:r>
            <a:endParaRPr lang="en-US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6318504" y="4700016"/>
            <a:ext cx="46542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80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ChatGPT·Claude 등 생성형 AI 도구 사용 환경 점검</a:t>
            </a:r>
            <a:endParaRPr lang="en-US" sz="11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48640" y="54864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905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5468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B7A7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✓</a:t>
            </a:r>
            <a:endParaRPr lang="en-US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969264" y="5431536"/>
            <a:ext cx="46542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80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관심 있는 뇌신경계 건강 문제(치매·파킨슨병·뇌졸중 등) 미리 생각해보기</a:t>
            </a:r>
            <a:endParaRPr lang="en-US" sz="11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897880" y="54864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9050">
            <a:solidFill>
              <a:srgbClr val="0FA3A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897880" y="5468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B7A7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✓</a:t>
            </a:r>
            <a:endParaRPr lang="en-US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6318504" y="5431536"/>
            <a:ext cx="46542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80" dirty="0">
                <a:solidFill>
                  <a:srgbClr val="241F4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8주차 중간고사 이후 팀 구성 재확인</a:t>
            </a:r>
            <a:endParaRPr lang="en-US" sz="11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1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822960" y="2011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mbria" pitchFamily="34" charset="-120"/>
              </a:rPr>
              <a:t>9주차에 만나요</a:t>
            </a:r>
            <a:endParaRPr lang="en-US" sz="4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F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뇌신경계 건강 문제 분석과 프로젝트 기획 — PBL 여정의 시작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566160"/>
            <a:ext cx="4937760" cy="0"/>
          </a:xfrm>
          <a:prstGeom prst="line">
            <a:avLst/>
          </a:prstGeom>
          <a:noFill/>
          <a:ln w="12700">
            <a:solidFill>
              <a:srgbClr val="4B45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8404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97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담당교수   </a:t>
            </a:r>
            <a:r>
              <a:rPr lang="en-US" sz="14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염희균 (SW중심대학사업단)</a:t>
            </a:r>
            <a:endParaRPr 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22960" y="422452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97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연구실   </a:t>
            </a:r>
            <a:r>
              <a:rPr lang="en-US" sz="14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융합과학관 309호</a:t>
            </a:r>
            <a:endParaRPr 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22960" y="460857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97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연락처   </a:t>
            </a:r>
            <a:r>
              <a:rPr lang="en-US" sz="14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042-280-4619</a:t>
            </a:r>
            <a:endParaRPr 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22960" y="499262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97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이메일   </a:t>
            </a:r>
            <a:r>
              <a:rPr lang="en-US" sz="14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yeom@dju.kr</a:t>
            </a:r>
            <a:endParaRPr 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22960" y="59893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C97C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주차별 강의자료와 공지사항은 원격교육시스템(LMS)에서 사전 확인해 주세요.</a:t>
            </a:r>
            <a:endParaRPr lang="en-US" sz="12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1183</Words>
  <Application>Microsoft Office PowerPoint</Application>
  <PresentationFormat>와이드스크린</PresentationFormat>
  <Paragraphs>244</Paragraphs>
  <Slides>13</Slides>
  <Notes>12</Notes>
  <HiddenSlides>2</HiddenSlides>
  <MMClips>1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맑은 고딕</vt:lpstr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염희균</cp:lastModifiedBy>
  <cp:revision>5</cp:revision>
  <dcterms:created xsi:type="dcterms:W3CDTF">2026-09-01T01:01:26Z</dcterms:created>
  <dcterms:modified xsi:type="dcterms:W3CDTF">2026-09-01T12:44:23Z</dcterms:modified>
</cp:coreProperties>
</file>